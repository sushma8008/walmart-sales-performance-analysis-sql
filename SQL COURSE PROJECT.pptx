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67" r:id="rId4"/>
    <p:sldId id="257" r:id="rId5"/>
    <p:sldId id="258" r:id="rId6"/>
    <p:sldId id="259" r:id="rId7"/>
    <p:sldId id="260" r:id="rId8"/>
    <p:sldId id="261" r:id="rId9"/>
    <p:sldId id="262" r:id="rId10"/>
    <p:sldId id="263" r:id="rId11"/>
    <p:sldId id="264" r:id="rId12"/>
    <p:sldId id="265" r:id="rId13"/>
    <p:sldId id="266" r:id="rId14"/>
    <p:sldId id="268" r:id="rId15"/>
    <p:sldId id="269"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4.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6.png"/><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8.png"/><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605790" y="1369695"/>
            <a:ext cx="7703820" cy="1870075"/>
          </a:xfrm>
        </p:spPr>
        <p:txBody>
          <a:bodyPr>
            <a:normAutofit fontScale="90000"/>
          </a:bodyPr>
          <a:lstStyle/>
          <a:p>
            <a:r>
              <a:rPr lang="en-US" altLang="en-GB">
                <a:ln>
                  <a:solidFill>
                    <a:schemeClr val="tx1"/>
                  </a:solidFill>
                </a:ln>
                <a:solidFill>
                  <a:schemeClr val="accent5">
                    <a:lumMod val="75000"/>
                  </a:schemeClr>
                </a:solidFill>
              </a:rPr>
              <a:t> Sales Performance Analysis of Walmart Stores Using Advanced MySQL Techniques</a:t>
            </a:r>
            <a:endParaRPr lang="en-US" altLang="en-GB">
              <a:ln>
                <a:solidFill>
                  <a:schemeClr val="tx1"/>
                </a:solidFill>
              </a:ln>
              <a:solidFill>
                <a:schemeClr val="accent5">
                  <a:lumMod val="75000"/>
                </a:schemeClr>
              </a:solidFill>
            </a:endParaRPr>
          </a:p>
        </p:txBody>
      </p:sp>
      <p:sp>
        <p:nvSpPr>
          <p:cNvPr id="5" name="Text Box 4"/>
          <p:cNvSpPr txBox="1"/>
          <p:nvPr/>
        </p:nvSpPr>
        <p:spPr>
          <a:xfrm>
            <a:off x="5915025" y="5040630"/>
            <a:ext cx="3063240" cy="2242820"/>
          </a:xfrm>
          <a:prstGeom prst="rect">
            <a:avLst/>
          </a:prstGeom>
          <a:noFill/>
        </p:spPr>
        <p:txBody>
          <a:bodyPr wrap="square" rtlCol="0">
            <a:noAutofit/>
          </a:bodyPr>
          <a:p>
            <a:r>
              <a:rPr lang="en-US" altLang="en-GB" sz="2000">
                <a:latin typeface="Times New Roman" panose="02020603050405020304" charset="0"/>
                <a:cs typeface="Times New Roman" panose="02020603050405020304" charset="0"/>
              </a:rPr>
              <a:t>presented by:</a:t>
            </a:r>
            <a:endParaRPr lang="en-US" altLang="en-GB" sz="2000">
              <a:latin typeface="Times New Roman" panose="02020603050405020304" charset="0"/>
              <a:cs typeface="Times New Roman" panose="02020603050405020304" charset="0"/>
            </a:endParaRPr>
          </a:p>
          <a:p>
            <a:r>
              <a:rPr lang="en-US" altLang="en-GB" sz="2000">
                <a:latin typeface="Times New Roman" panose="02020603050405020304" charset="0"/>
                <a:cs typeface="Times New Roman" panose="02020603050405020304" charset="0"/>
              </a:rPr>
              <a:t>  Sushma Gudlanarva</a:t>
            </a:r>
            <a:endParaRPr lang="en-US" altLang="en-GB" sz="200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58775" y="-105092"/>
            <a:ext cx="8229600" cy="1143000"/>
          </a:xfrm>
        </p:spPr>
        <p:txBody>
          <a:bodyPr/>
          <a:p>
            <a:r>
              <a:rPr lang="en-US" altLang="en-GB"/>
              <a:t>INTRODUCTION</a:t>
            </a:r>
            <a:endParaRPr lang="en-US" altLang="en-GB"/>
          </a:p>
        </p:txBody>
      </p:sp>
      <p:sp>
        <p:nvSpPr>
          <p:cNvPr id="3" name="Content Placeholder 2"/>
          <p:cNvSpPr>
            <a:spLocks noGrp="1"/>
          </p:cNvSpPr>
          <p:nvPr>
            <p:ph idx="1"/>
          </p:nvPr>
        </p:nvSpPr>
        <p:spPr>
          <a:xfrm>
            <a:off x="445770" y="1307465"/>
            <a:ext cx="8281670" cy="5281930"/>
          </a:xfrm>
        </p:spPr>
        <p:txBody>
          <a:bodyPr>
            <a:normAutofit lnSpcReduction="10000"/>
          </a:bodyPr>
          <a:p>
            <a:pPr marL="0" indent="0">
              <a:buNone/>
            </a:pPr>
            <a:r>
              <a:rPr lang="en-US" altLang="en-GB" sz="2000">
                <a:latin typeface="Times New Roman" panose="02020603050405020304" charset="0"/>
                <a:cs typeface="Times New Roman" panose="02020603050405020304" charset="0"/>
              </a:rPr>
              <a:t>Walmart is one of the largest retail chains, serving millions of customers across multiple cities. With every transaction, Walmart collects valuable data related to customer demographics, product preferences, sales performance, and payment behavior.</a:t>
            </a:r>
            <a:endParaRPr lang="en-US" altLang="en-GB" sz="2000">
              <a:latin typeface="Times New Roman" panose="02020603050405020304" charset="0"/>
              <a:cs typeface="Times New Roman" panose="02020603050405020304" charset="0"/>
            </a:endParaRPr>
          </a:p>
          <a:p>
            <a:pPr marL="0" indent="0">
              <a:buNone/>
            </a:pPr>
            <a:endParaRPr lang="en-US" altLang="en-GB" sz="2000">
              <a:latin typeface="Times New Roman" panose="02020603050405020304" charset="0"/>
              <a:cs typeface="Times New Roman" panose="02020603050405020304" charset="0"/>
            </a:endParaRPr>
          </a:p>
          <a:p>
            <a:pPr marL="0" indent="0">
              <a:buNone/>
            </a:pPr>
            <a:r>
              <a:rPr lang="en-US" altLang="en-GB" sz="2000">
                <a:latin typeface="Times New Roman" panose="02020603050405020304" charset="0"/>
                <a:cs typeface="Times New Roman" panose="02020603050405020304" charset="0"/>
              </a:rPr>
              <a:t>Branch performance and growth trends</a:t>
            </a:r>
            <a:endParaRPr lang="en-US" altLang="en-GB" sz="2000">
              <a:latin typeface="Times New Roman" panose="02020603050405020304" charset="0"/>
              <a:cs typeface="Times New Roman" panose="02020603050405020304" charset="0"/>
            </a:endParaRPr>
          </a:p>
          <a:p>
            <a:pPr marL="0" indent="0">
              <a:buNone/>
            </a:pPr>
            <a:endParaRPr lang="en-US" altLang="en-GB" sz="2000">
              <a:latin typeface="Times New Roman" panose="02020603050405020304" charset="0"/>
              <a:cs typeface="Times New Roman" panose="02020603050405020304" charset="0"/>
            </a:endParaRPr>
          </a:p>
          <a:p>
            <a:pPr marL="0" indent="0">
              <a:buNone/>
            </a:pPr>
            <a:r>
              <a:rPr lang="en-US" altLang="en-GB" sz="2000">
                <a:latin typeface="Times New Roman" panose="02020603050405020304" charset="0"/>
                <a:cs typeface="Times New Roman" panose="02020603050405020304" charset="0"/>
              </a:rPr>
              <a:t>Profitable product lines</a:t>
            </a:r>
            <a:endParaRPr lang="en-US" altLang="en-GB" sz="2000">
              <a:latin typeface="Times New Roman" panose="02020603050405020304" charset="0"/>
              <a:cs typeface="Times New Roman" panose="02020603050405020304" charset="0"/>
            </a:endParaRPr>
          </a:p>
          <a:p>
            <a:pPr marL="0" indent="0">
              <a:buNone/>
            </a:pPr>
            <a:endParaRPr lang="en-US" altLang="en-GB" sz="2000">
              <a:latin typeface="Times New Roman" panose="02020603050405020304" charset="0"/>
              <a:cs typeface="Times New Roman" panose="02020603050405020304" charset="0"/>
            </a:endParaRPr>
          </a:p>
          <a:p>
            <a:pPr marL="0" indent="0">
              <a:buNone/>
            </a:pPr>
            <a:r>
              <a:rPr lang="en-US" altLang="en-GB" sz="2000">
                <a:latin typeface="Times New Roman" panose="02020603050405020304" charset="0"/>
                <a:cs typeface="Times New Roman" panose="02020603050405020304" charset="0"/>
              </a:rPr>
              <a:t>Customer segmentation based on spending</a:t>
            </a:r>
            <a:endParaRPr lang="en-US" altLang="en-GB" sz="2000">
              <a:latin typeface="Times New Roman" panose="02020603050405020304" charset="0"/>
              <a:cs typeface="Times New Roman" panose="02020603050405020304" charset="0"/>
            </a:endParaRPr>
          </a:p>
          <a:p>
            <a:pPr marL="0" indent="0">
              <a:buNone/>
            </a:pPr>
            <a:endParaRPr lang="en-US" altLang="en-GB" sz="2000">
              <a:latin typeface="Times New Roman" panose="02020603050405020304" charset="0"/>
              <a:cs typeface="Times New Roman" panose="02020603050405020304" charset="0"/>
            </a:endParaRPr>
          </a:p>
          <a:p>
            <a:pPr marL="0" indent="0">
              <a:buNone/>
            </a:pPr>
            <a:r>
              <a:rPr lang="en-US" altLang="en-GB" sz="2000">
                <a:latin typeface="Times New Roman" panose="02020603050405020304" charset="0"/>
                <a:cs typeface="Times New Roman" panose="02020603050405020304" charset="0"/>
              </a:rPr>
              <a:t>Sales anomalies and fraud detection</a:t>
            </a:r>
            <a:endParaRPr lang="en-US" altLang="en-GB" sz="2000">
              <a:latin typeface="Times New Roman" panose="02020603050405020304" charset="0"/>
              <a:cs typeface="Times New Roman" panose="02020603050405020304" charset="0"/>
            </a:endParaRPr>
          </a:p>
          <a:p>
            <a:pPr marL="0" indent="0">
              <a:buNone/>
            </a:pPr>
            <a:endParaRPr lang="en-US" altLang="en-GB" sz="2000">
              <a:latin typeface="Times New Roman" panose="02020603050405020304" charset="0"/>
              <a:cs typeface="Times New Roman" panose="02020603050405020304" charset="0"/>
            </a:endParaRPr>
          </a:p>
          <a:p>
            <a:pPr marL="0" indent="0">
              <a:buNone/>
            </a:pPr>
            <a:r>
              <a:rPr lang="en-US" altLang="en-GB" sz="2000">
                <a:latin typeface="Times New Roman" panose="02020603050405020304" charset="0"/>
                <a:cs typeface="Times New Roman" panose="02020603050405020304" charset="0"/>
              </a:rPr>
              <a:t>Payment method preferences</a:t>
            </a:r>
            <a:endParaRPr lang="en-US" altLang="en-GB" sz="2000">
              <a:latin typeface="Times New Roman" panose="02020603050405020304" charset="0"/>
              <a:cs typeface="Times New Roman" panose="02020603050405020304" charset="0"/>
            </a:endParaRPr>
          </a:p>
          <a:p>
            <a:pPr marL="0" indent="0">
              <a:buNone/>
            </a:pPr>
            <a:endParaRPr lang="en-US" altLang="en-GB" sz="2000">
              <a:latin typeface="Times New Roman" panose="02020603050405020304" charset="0"/>
              <a:cs typeface="Times New Roman" panose="02020603050405020304" charset="0"/>
            </a:endParaRPr>
          </a:p>
          <a:p>
            <a:pPr marL="0" indent="0">
              <a:buNone/>
            </a:pPr>
            <a:r>
              <a:rPr lang="en-US" altLang="en-GB" sz="2000">
                <a:latin typeface="Times New Roman" panose="02020603050405020304" charset="0"/>
                <a:cs typeface="Times New Roman" panose="02020603050405020304" charset="0"/>
              </a:rPr>
              <a:t>Gender and time-based sales pattern</a:t>
            </a:r>
            <a:endParaRPr lang="en-US" altLang="en-GB" sz="20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98805" y="-147955"/>
            <a:ext cx="8229600" cy="903605"/>
          </a:xfrm>
        </p:spPr>
        <p:txBody>
          <a:bodyPr>
            <a:normAutofit/>
          </a:bodyPr>
          <a:lstStyle/>
          <a:p>
            <a:r>
              <a:rPr sz="2220" b="1">
                <a:latin typeface="Times New Roman" panose="02020603050405020304" charset="0"/>
                <a:cs typeface="Times New Roman" panose="02020603050405020304" charset="0"/>
              </a:rPr>
              <a:t>Task 1: Top Branch by Sales Growth Rate</a:t>
            </a:r>
            <a:endParaRPr sz="2220" b="1">
              <a:latin typeface="Times New Roman" panose="02020603050405020304" charset="0"/>
              <a:cs typeface="Times New Roman" panose="02020603050405020304" charset="0"/>
            </a:endParaRPr>
          </a:p>
        </p:txBody>
      </p:sp>
      <p:sp>
        <p:nvSpPr>
          <p:cNvPr id="3" name="TextBox 2"/>
          <p:cNvSpPr txBox="1"/>
          <p:nvPr/>
        </p:nvSpPr>
        <p:spPr>
          <a:xfrm>
            <a:off x="274320" y="1097280"/>
            <a:ext cx="8869680" cy="3569335"/>
          </a:xfrm>
          <a:prstGeom prst="rect">
            <a:avLst/>
          </a:prstGeom>
          <a:noFill/>
        </p:spPr>
        <p:txBody>
          <a:bodyPr wrap="square">
            <a:spAutoFit/>
          </a:bodyPr>
          <a:lstStyle/>
          <a:p/>
          <a:p>
            <a:pPr>
              <a:defRPr sz="1200"/>
            </a:pPr>
            <a:r>
              <a:rPr sz="1600">
                <a:latin typeface="Times New Roman" panose="02020603050405020304" charset="0"/>
                <a:cs typeface="Times New Roman" panose="02020603050405020304" charset="0"/>
              </a:rPr>
              <a:t>SQL Query:</a:t>
            </a:r>
            <a:br>
              <a:rPr sz="1600">
                <a:latin typeface="Times New Roman" panose="02020603050405020304" charset="0"/>
                <a:cs typeface="Times New Roman" panose="02020603050405020304" charset="0"/>
              </a:rPr>
            </a:br>
            <a:br>
              <a:rPr sz="1600">
                <a:latin typeface="Times New Roman" panose="02020603050405020304" charset="0"/>
                <a:cs typeface="Times New Roman" panose="02020603050405020304" charset="0"/>
              </a:rPr>
            </a:br>
            <a:r>
              <a:rPr sz="1600">
                <a:latin typeface="Times New Roman" panose="02020603050405020304" charset="0"/>
                <a:cs typeface="Times New Roman" panose="02020603050405020304" charset="0"/>
              </a:rPr>
              <a:t>SELECT Branch, </a:t>
            </a:r>
            <a:br>
              <a:rPr sz="1600">
                <a:latin typeface="Times New Roman" panose="02020603050405020304" charset="0"/>
                <a:cs typeface="Times New Roman" panose="02020603050405020304" charset="0"/>
              </a:rPr>
            </a:br>
            <a:r>
              <a:rPr sz="1600">
                <a:latin typeface="Times New Roman" panose="02020603050405020304" charset="0"/>
                <a:cs typeface="Times New Roman" panose="02020603050405020304" charset="0"/>
              </a:rPr>
              <a:t>       AVG(Growth_Rate) AS Avg_Growth</a:t>
            </a:r>
            <a:br>
              <a:rPr sz="1600">
                <a:latin typeface="Times New Roman" panose="02020603050405020304" charset="0"/>
                <a:cs typeface="Times New Roman" panose="02020603050405020304" charset="0"/>
              </a:rPr>
            </a:br>
            <a:r>
              <a:rPr sz="1600">
                <a:latin typeface="Times New Roman" panose="02020603050405020304" charset="0"/>
                <a:cs typeface="Times New Roman" panose="02020603050405020304" charset="0"/>
              </a:rPr>
              <a:t>FROM (</a:t>
            </a:r>
            <a:br>
              <a:rPr sz="1600">
                <a:latin typeface="Times New Roman" panose="02020603050405020304" charset="0"/>
                <a:cs typeface="Times New Roman" panose="02020603050405020304" charset="0"/>
              </a:rPr>
            </a:br>
            <a:r>
              <a:rPr sz="1600">
                <a:latin typeface="Times New Roman" panose="02020603050405020304" charset="0"/>
                <a:cs typeface="Times New Roman" panose="02020603050405020304" charset="0"/>
              </a:rPr>
              <a:t>    SELECT Branch, </a:t>
            </a:r>
            <a:br>
              <a:rPr sz="1600">
                <a:latin typeface="Times New Roman" panose="02020603050405020304" charset="0"/>
                <a:cs typeface="Times New Roman" panose="02020603050405020304" charset="0"/>
              </a:rPr>
            </a:br>
            <a:r>
              <a:rPr sz="1600">
                <a:latin typeface="Times New Roman" panose="02020603050405020304" charset="0"/>
                <a:cs typeface="Times New Roman" panose="02020603050405020304" charset="0"/>
              </a:rPr>
              <a:t>           (Total - LAG(Total) OVER(PARTITION BY Branch ORDER BY Month))/LAG(Total) OVER(PARTITION BY Branch ORDER BY Month) AS Growth_Rate</a:t>
            </a:r>
            <a:br>
              <a:rPr sz="1600">
                <a:latin typeface="Times New Roman" panose="02020603050405020304" charset="0"/>
                <a:cs typeface="Times New Roman" panose="02020603050405020304" charset="0"/>
              </a:rPr>
            </a:br>
            <a:r>
              <a:rPr sz="1600">
                <a:latin typeface="Times New Roman" panose="02020603050405020304" charset="0"/>
                <a:cs typeface="Times New Roman" panose="02020603050405020304" charset="0"/>
              </a:rPr>
              <a:t>    FROM MonthlySales</a:t>
            </a:r>
            <a:br>
              <a:rPr sz="1600">
                <a:latin typeface="Times New Roman" panose="02020603050405020304" charset="0"/>
                <a:cs typeface="Times New Roman" panose="02020603050405020304" charset="0"/>
              </a:rPr>
            </a:br>
            <a:r>
              <a:rPr sz="1600">
                <a:latin typeface="Times New Roman" panose="02020603050405020304" charset="0"/>
                <a:cs typeface="Times New Roman" panose="02020603050405020304" charset="0"/>
              </a:rPr>
              <a:t>) t</a:t>
            </a:r>
            <a:br>
              <a:rPr sz="1600">
                <a:latin typeface="Times New Roman" panose="02020603050405020304" charset="0"/>
                <a:cs typeface="Times New Roman" panose="02020603050405020304" charset="0"/>
              </a:rPr>
            </a:br>
            <a:r>
              <a:rPr sz="1600">
                <a:latin typeface="Times New Roman" panose="02020603050405020304" charset="0"/>
                <a:cs typeface="Times New Roman" panose="02020603050405020304" charset="0"/>
              </a:rPr>
              <a:t>GROUP BY Branch</a:t>
            </a:r>
            <a:br>
              <a:rPr sz="1600">
                <a:latin typeface="Times New Roman" panose="02020603050405020304" charset="0"/>
                <a:cs typeface="Times New Roman" panose="02020603050405020304" charset="0"/>
              </a:rPr>
            </a:br>
            <a:r>
              <a:rPr sz="1600">
                <a:latin typeface="Times New Roman" panose="02020603050405020304" charset="0"/>
                <a:cs typeface="Times New Roman" panose="02020603050405020304" charset="0"/>
              </a:rPr>
              <a:t>ORDER BY Avg_Growth DESC;</a:t>
            </a:r>
            <a:br>
              <a:rPr sz="1600">
                <a:latin typeface="Times New Roman" panose="02020603050405020304" charset="0"/>
                <a:cs typeface="Times New Roman" panose="02020603050405020304" charset="0"/>
              </a:rPr>
            </a:br>
            <a:endParaRPr sz="1600">
              <a:latin typeface="Times New Roman" panose="02020603050405020304" charset="0"/>
              <a:cs typeface="Times New Roman" panose="02020603050405020304" charset="0"/>
            </a:endParaRPr>
          </a:p>
        </p:txBody>
      </p:sp>
      <p:pic>
        <p:nvPicPr>
          <p:cNvPr id="4" name="Picture 3" descr="image.png"/>
          <p:cNvPicPr>
            <a:picLocks noChangeAspect="1"/>
          </p:cNvPicPr>
          <p:nvPr/>
        </p:nvPicPr>
        <p:blipFill>
          <a:blip r:embed="rId1"/>
          <a:stretch>
            <a:fillRect/>
          </a:stretch>
        </p:blipFill>
        <p:spPr>
          <a:xfrm>
            <a:off x="274320" y="4789170"/>
            <a:ext cx="3920490" cy="1645920"/>
          </a:xfrm>
          <a:prstGeom prst="rect">
            <a:avLst/>
          </a:prstGeom>
        </p:spPr>
      </p:pic>
      <p:pic>
        <p:nvPicPr>
          <p:cNvPr id="5" name="Picture 4" descr="image.png"/>
          <p:cNvPicPr>
            <a:picLocks noChangeAspect="1"/>
          </p:cNvPicPr>
          <p:nvPr/>
        </p:nvPicPr>
        <p:blipFill>
          <a:blip r:embed="rId2"/>
          <a:stretch>
            <a:fillRect/>
          </a:stretch>
        </p:blipFill>
        <p:spPr>
          <a:xfrm>
            <a:off x="4496435" y="3429000"/>
            <a:ext cx="4114800" cy="24688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46037"/>
            <a:ext cx="8229600" cy="1143000"/>
          </a:xfrm>
        </p:spPr>
        <p:txBody>
          <a:bodyPr>
            <a:normAutofit/>
          </a:bodyPr>
          <a:lstStyle/>
          <a:p>
            <a:r>
              <a:rPr sz="2220" b="1">
                <a:latin typeface="Times New Roman" panose="02020603050405020304" charset="0"/>
                <a:cs typeface="Times New Roman" panose="02020603050405020304" charset="0"/>
              </a:rPr>
              <a:t>Task 2: Most Profitable Product Line per Branch</a:t>
            </a:r>
            <a:endParaRPr sz="2220" b="1">
              <a:latin typeface="Times New Roman" panose="02020603050405020304" charset="0"/>
              <a:cs typeface="Times New Roman" panose="02020603050405020304" charset="0"/>
            </a:endParaRPr>
          </a:p>
        </p:txBody>
      </p:sp>
      <p:sp>
        <p:nvSpPr>
          <p:cNvPr id="3" name="TextBox 2"/>
          <p:cNvSpPr txBox="1"/>
          <p:nvPr/>
        </p:nvSpPr>
        <p:spPr>
          <a:xfrm>
            <a:off x="274320" y="1097280"/>
            <a:ext cx="5391785" cy="3384550"/>
          </a:xfrm>
          <a:prstGeom prst="rect">
            <a:avLst/>
          </a:prstGeom>
          <a:noFill/>
        </p:spPr>
        <p:txBody>
          <a:bodyPr wrap="none">
            <a:spAutoFit/>
          </a:bodyPr>
          <a:lstStyle/>
          <a:p>
            <a:endParaRPr>
              <a:latin typeface="Times New Roman" panose="02020603050405020304" charset="0"/>
              <a:cs typeface="Times New Roman" panose="02020603050405020304" charset="0"/>
            </a:endParaRPr>
          </a:p>
          <a:p>
            <a:pPr>
              <a:defRPr sz="1200"/>
            </a:pPr>
            <a:r>
              <a:rPr sz="1400">
                <a:latin typeface="Times New Roman" panose="02020603050405020304" charset="0"/>
                <a:cs typeface="Times New Roman" panose="02020603050405020304" charset="0"/>
              </a:rPr>
              <a:t>SQL Query:</a:t>
            </a:r>
            <a:br>
              <a:rPr sz="1400">
                <a:latin typeface="Times New Roman" panose="02020603050405020304" charset="0"/>
                <a:cs typeface="Times New Roman" panose="02020603050405020304" charset="0"/>
              </a:rPr>
            </a:br>
            <a:br>
              <a:rPr sz="1400">
                <a:latin typeface="Times New Roman" panose="02020603050405020304" charset="0"/>
                <a:cs typeface="Times New Roman" panose="02020603050405020304" charset="0"/>
              </a:rPr>
            </a:br>
            <a:r>
              <a:rPr sz="1400">
                <a:latin typeface="Times New Roman" panose="02020603050405020304" charset="0"/>
                <a:cs typeface="Times New Roman" panose="02020603050405020304" charset="0"/>
              </a:rPr>
              <a:t>SELECT Branch, Product_line, SUM(gross_income) AS Total_Profit</a:t>
            </a:r>
            <a:br>
              <a:rPr sz="1400">
                <a:latin typeface="Times New Roman" panose="02020603050405020304" charset="0"/>
                <a:cs typeface="Times New Roman" panose="02020603050405020304" charset="0"/>
              </a:rPr>
            </a:br>
            <a:r>
              <a:rPr sz="1400">
                <a:latin typeface="Times New Roman" panose="02020603050405020304" charset="0"/>
                <a:cs typeface="Times New Roman" panose="02020603050405020304" charset="0"/>
              </a:rPr>
              <a:t>FROM sales</a:t>
            </a:r>
            <a:br>
              <a:rPr sz="1400">
                <a:latin typeface="Times New Roman" panose="02020603050405020304" charset="0"/>
                <a:cs typeface="Times New Roman" panose="02020603050405020304" charset="0"/>
              </a:rPr>
            </a:br>
            <a:r>
              <a:rPr sz="1400">
                <a:latin typeface="Times New Roman" panose="02020603050405020304" charset="0"/>
                <a:cs typeface="Times New Roman" panose="02020603050405020304" charset="0"/>
              </a:rPr>
              <a:t>GROUP BY Branch, Product_line</a:t>
            </a:r>
            <a:br>
              <a:rPr sz="1400">
                <a:latin typeface="Times New Roman" panose="02020603050405020304" charset="0"/>
                <a:cs typeface="Times New Roman" panose="02020603050405020304" charset="0"/>
              </a:rPr>
            </a:br>
            <a:r>
              <a:rPr sz="1400">
                <a:latin typeface="Times New Roman" panose="02020603050405020304" charset="0"/>
                <a:cs typeface="Times New Roman" panose="02020603050405020304" charset="0"/>
              </a:rPr>
              <a:t>HAVING SUM(gross_income) = (</a:t>
            </a:r>
            <a:br>
              <a:rPr sz="1400">
                <a:latin typeface="Times New Roman" panose="02020603050405020304" charset="0"/>
                <a:cs typeface="Times New Roman" panose="02020603050405020304" charset="0"/>
              </a:rPr>
            </a:br>
            <a:r>
              <a:rPr sz="1400">
                <a:latin typeface="Times New Roman" panose="02020603050405020304" charset="0"/>
                <a:cs typeface="Times New Roman" panose="02020603050405020304" charset="0"/>
              </a:rPr>
              <a:t>    SELECT MAX(TotalProfit) </a:t>
            </a:r>
            <a:br>
              <a:rPr sz="1400">
                <a:latin typeface="Times New Roman" panose="02020603050405020304" charset="0"/>
                <a:cs typeface="Times New Roman" panose="02020603050405020304" charset="0"/>
              </a:rPr>
            </a:br>
            <a:r>
              <a:rPr sz="1400">
                <a:latin typeface="Times New Roman" panose="02020603050405020304" charset="0"/>
                <a:cs typeface="Times New Roman" panose="02020603050405020304" charset="0"/>
              </a:rPr>
              <a:t>    FROM (</a:t>
            </a:r>
            <a:br>
              <a:rPr sz="1400">
                <a:latin typeface="Times New Roman" panose="02020603050405020304" charset="0"/>
                <a:cs typeface="Times New Roman" panose="02020603050405020304" charset="0"/>
              </a:rPr>
            </a:br>
            <a:r>
              <a:rPr sz="1400">
                <a:latin typeface="Times New Roman" panose="02020603050405020304" charset="0"/>
                <a:cs typeface="Times New Roman" panose="02020603050405020304" charset="0"/>
              </a:rPr>
              <a:t>        SELECT Branch, Product_line, SUM(gross_income) AS TotalProfit</a:t>
            </a:r>
            <a:br>
              <a:rPr sz="1400">
                <a:latin typeface="Times New Roman" panose="02020603050405020304" charset="0"/>
                <a:cs typeface="Times New Roman" panose="02020603050405020304" charset="0"/>
              </a:rPr>
            </a:br>
            <a:r>
              <a:rPr sz="1400">
                <a:latin typeface="Times New Roman" panose="02020603050405020304" charset="0"/>
                <a:cs typeface="Times New Roman" panose="02020603050405020304" charset="0"/>
              </a:rPr>
              <a:t>        FROM sales</a:t>
            </a:r>
            <a:br>
              <a:rPr sz="1400">
                <a:latin typeface="Times New Roman" panose="02020603050405020304" charset="0"/>
                <a:cs typeface="Times New Roman" panose="02020603050405020304" charset="0"/>
              </a:rPr>
            </a:br>
            <a:r>
              <a:rPr sz="1400">
                <a:latin typeface="Times New Roman" panose="02020603050405020304" charset="0"/>
                <a:cs typeface="Times New Roman" panose="02020603050405020304" charset="0"/>
              </a:rPr>
              <a:t>        GROUP BY Branch, Product_line</a:t>
            </a:r>
            <a:br>
              <a:rPr sz="1400">
                <a:latin typeface="Times New Roman" panose="02020603050405020304" charset="0"/>
                <a:cs typeface="Times New Roman" panose="02020603050405020304" charset="0"/>
              </a:rPr>
            </a:br>
            <a:r>
              <a:rPr sz="1400">
                <a:latin typeface="Times New Roman" panose="02020603050405020304" charset="0"/>
                <a:cs typeface="Times New Roman" panose="02020603050405020304" charset="0"/>
              </a:rPr>
              <a:t>    ) t WHERE t.Branch = sales.Branch</a:t>
            </a:r>
            <a:br>
              <a:rPr sz="1400">
                <a:latin typeface="Times New Roman" panose="02020603050405020304" charset="0"/>
                <a:cs typeface="Times New Roman" panose="02020603050405020304" charset="0"/>
              </a:rPr>
            </a:br>
            <a:r>
              <a:rPr sz="1400">
                <a:latin typeface="Times New Roman" panose="02020603050405020304" charset="0"/>
                <a:cs typeface="Times New Roman" panose="02020603050405020304" charset="0"/>
              </a:rPr>
              <a:t>);</a:t>
            </a:r>
            <a:br>
              <a:rPr sz="1400">
                <a:latin typeface="Times New Roman" panose="02020603050405020304" charset="0"/>
                <a:cs typeface="Times New Roman" panose="02020603050405020304" charset="0"/>
              </a:rPr>
            </a:br>
            <a:endParaRPr sz="1400">
              <a:latin typeface="Times New Roman" panose="02020603050405020304" charset="0"/>
              <a:cs typeface="Times New Roman" panose="02020603050405020304" charset="0"/>
            </a:endParaRPr>
          </a:p>
        </p:txBody>
      </p:sp>
      <p:pic>
        <p:nvPicPr>
          <p:cNvPr id="4" name="Picture 3" descr="image.png"/>
          <p:cNvPicPr>
            <a:picLocks noChangeAspect="1"/>
          </p:cNvPicPr>
          <p:nvPr/>
        </p:nvPicPr>
        <p:blipFill>
          <a:blip r:embed="rId1"/>
          <a:stretch>
            <a:fillRect/>
          </a:stretch>
        </p:blipFill>
        <p:spPr>
          <a:xfrm>
            <a:off x="0" y="4641215"/>
            <a:ext cx="4114800" cy="1645920"/>
          </a:xfrm>
          <a:prstGeom prst="rect">
            <a:avLst/>
          </a:prstGeom>
        </p:spPr>
      </p:pic>
      <p:pic>
        <p:nvPicPr>
          <p:cNvPr id="5" name="Picture 4" descr="image.png"/>
          <p:cNvPicPr>
            <a:picLocks noChangeAspect="1"/>
          </p:cNvPicPr>
          <p:nvPr/>
        </p:nvPicPr>
        <p:blipFill>
          <a:blip r:embed="rId2"/>
          <a:stretch>
            <a:fillRect/>
          </a:stretch>
        </p:blipFill>
        <p:spPr>
          <a:xfrm>
            <a:off x="4480560" y="4229735"/>
            <a:ext cx="4114800" cy="24688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0"/>
            <a:ext cx="8229600" cy="829945"/>
          </a:xfrm>
        </p:spPr>
        <p:txBody>
          <a:bodyPr/>
          <a:lstStyle/>
          <a:p>
            <a:r>
              <a:rPr sz="2000" b="1">
                <a:latin typeface="Times New Roman" panose="02020603050405020304" charset="0"/>
                <a:cs typeface="Times New Roman" panose="02020603050405020304" charset="0"/>
              </a:rPr>
              <a:t>Task 3: Customer Segmentation</a:t>
            </a:r>
            <a:endParaRPr sz="2000" b="1">
              <a:latin typeface="Times New Roman" panose="02020603050405020304" charset="0"/>
              <a:cs typeface="Times New Roman" panose="02020603050405020304" charset="0"/>
            </a:endParaRPr>
          </a:p>
        </p:txBody>
      </p:sp>
      <p:sp>
        <p:nvSpPr>
          <p:cNvPr id="3" name="TextBox 2"/>
          <p:cNvSpPr txBox="1"/>
          <p:nvPr/>
        </p:nvSpPr>
        <p:spPr>
          <a:xfrm>
            <a:off x="105410" y="688340"/>
            <a:ext cx="9038590" cy="4006215"/>
          </a:xfrm>
          <a:prstGeom prst="rect">
            <a:avLst/>
          </a:prstGeom>
          <a:noFill/>
        </p:spPr>
        <p:txBody>
          <a:bodyPr wrap="none">
            <a:noAutofit/>
          </a:bodyPr>
          <a:lstStyle/>
          <a:p>
            <a:endParaRPr sz="2000">
              <a:latin typeface="Times New Roman" panose="02020603050405020304" charset="0"/>
              <a:cs typeface="Times New Roman" panose="02020603050405020304" charset="0"/>
            </a:endParaRPr>
          </a:p>
          <a:p>
            <a:pPr>
              <a:defRPr sz="1200"/>
            </a:pPr>
            <a:r>
              <a:rPr sz="1800">
                <a:latin typeface="Times New Roman" panose="02020603050405020304" charset="0"/>
                <a:cs typeface="Times New Roman" panose="02020603050405020304" charset="0"/>
              </a:rPr>
              <a:t>SQL Query:</a:t>
            </a:r>
            <a:br>
              <a:rPr sz="1800">
                <a:latin typeface="Times New Roman" panose="02020603050405020304" charset="0"/>
                <a:cs typeface="Times New Roman" panose="02020603050405020304" charset="0"/>
              </a:rPr>
            </a:b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SELECT Customer_ID,</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       CASE </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            WHEN SUM(Total) &lt;= PERCENTILE_CONT(0.33) </a:t>
            </a:r>
            <a:endParaRPr sz="1800">
              <a:latin typeface="Times New Roman" panose="02020603050405020304" charset="0"/>
              <a:cs typeface="Times New Roman" panose="02020603050405020304" charset="0"/>
            </a:endParaRPr>
          </a:p>
          <a:p>
            <a:pPr>
              <a:defRPr sz="1200"/>
            </a:pPr>
            <a:r>
              <a:rPr sz="1800">
                <a:latin typeface="Times New Roman" panose="02020603050405020304" charset="0"/>
                <a:cs typeface="Times New Roman" panose="02020603050405020304" charset="0"/>
              </a:rPr>
              <a:t>WITHIN GROUP (ORDER BY SUM(Total)) THEN 'Low'</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            WHEN SUM(Total) &lt;= PERCENTILE_CONT(0.66) </a:t>
            </a:r>
            <a:endParaRPr sz="1800">
              <a:latin typeface="Times New Roman" panose="02020603050405020304" charset="0"/>
              <a:cs typeface="Times New Roman" panose="02020603050405020304" charset="0"/>
            </a:endParaRPr>
          </a:p>
          <a:p>
            <a:pPr>
              <a:defRPr sz="1200"/>
            </a:pPr>
            <a:r>
              <a:rPr sz="1800">
                <a:latin typeface="Times New Roman" panose="02020603050405020304" charset="0"/>
                <a:cs typeface="Times New Roman" panose="02020603050405020304" charset="0"/>
              </a:rPr>
              <a:t>WITHIN GROUP (ORDER BY SUM(Total)) THEN 'Medium'</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            ELSE 'High'</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       END AS Segment</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FROM sales</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GROUP BY Customer_ID;</a:t>
            </a:r>
            <a:br>
              <a:rPr sz="2000">
                <a:latin typeface="Times New Roman" panose="02020603050405020304" charset="0"/>
                <a:cs typeface="Times New Roman" panose="02020603050405020304" charset="0"/>
              </a:rPr>
            </a:br>
            <a:endParaRPr sz="2000">
              <a:latin typeface="Times New Roman" panose="02020603050405020304" charset="0"/>
              <a:cs typeface="Times New Roman" panose="02020603050405020304" charset="0"/>
            </a:endParaRPr>
          </a:p>
        </p:txBody>
      </p:sp>
      <p:pic>
        <p:nvPicPr>
          <p:cNvPr id="4" name="Picture 3" descr="image.png"/>
          <p:cNvPicPr>
            <a:picLocks noChangeAspect="1"/>
          </p:cNvPicPr>
          <p:nvPr/>
        </p:nvPicPr>
        <p:blipFill>
          <a:blip r:embed="rId1"/>
          <a:stretch>
            <a:fillRect/>
          </a:stretch>
        </p:blipFill>
        <p:spPr>
          <a:xfrm>
            <a:off x="859155" y="4363085"/>
            <a:ext cx="6031865" cy="2413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98805" y="-136525"/>
            <a:ext cx="8229600" cy="846455"/>
          </a:xfrm>
        </p:spPr>
        <p:txBody>
          <a:bodyPr/>
          <a:lstStyle/>
          <a:p>
            <a:r>
              <a:rPr sz="2000" b="1">
                <a:latin typeface="Times New Roman" panose="02020603050405020304" charset="0"/>
                <a:cs typeface="Times New Roman" panose="02020603050405020304" charset="0"/>
              </a:rPr>
              <a:t>Task 4: Sales Anomalies Detection</a:t>
            </a:r>
            <a:endParaRPr sz="2000" b="1">
              <a:latin typeface="Times New Roman" panose="02020603050405020304" charset="0"/>
              <a:cs typeface="Times New Roman" panose="02020603050405020304" charset="0"/>
            </a:endParaRPr>
          </a:p>
        </p:txBody>
      </p:sp>
      <p:sp>
        <p:nvSpPr>
          <p:cNvPr id="3" name="TextBox 2"/>
          <p:cNvSpPr txBox="1"/>
          <p:nvPr/>
        </p:nvSpPr>
        <p:spPr>
          <a:xfrm>
            <a:off x="0" y="963295"/>
            <a:ext cx="4417060" cy="1831340"/>
          </a:xfrm>
          <a:prstGeom prst="rect">
            <a:avLst/>
          </a:prstGeom>
          <a:noFill/>
        </p:spPr>
        <p:txBody>
          <a:bodyPr wrap="none">
            <a:noAutofit/>
          </a:bodyPr>
          <a:lstStyle/>
          <a:p/>
          <a:p>
            <a:pPr>
              <a:defRPr sz="1200"/>
            </a:pPr>
            <a:r>
              <a:rPr sz="1800">
                <a:latin typeface="Times New Roman" panose="02020603050405020304" charset="0"/>
                <a:cs typeface="Times New Roman" panose="02020603050405020304" charset="0"/>
              </a:rPr>
              <a:t>SQL Query:</a:t>
            </a:r>
            <a:br>
              <a:rPr sz="1800">
                <a:latin typeface="Times New Roman" panose="02020603050405020304" charset="0"/>
                <a:cs typeface="Times New Roman" panose="02020603050405020304" charset="0"/>
              </a:rPr>
            </a:b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SELECT Invoice_ID, Product_line, Total,</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       AVG(Total) OVER(PARTITION BY Product_line) AS Avg_Total</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FROM sales</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WHERE Total &gt; 2*AVG(Total) OVER(PARTITION BY Product_line)</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   OR Total &lt; 0.5*AVG(Total) OVER(PARTITION BY Product_line);</a:t>
            </a:r>
            <a:br>
              <a:rPr sz="1800">
                <a:latin typeface="Times New Roman" panose="02020603050405020304" charset="0"/>
                <a:cs typeface="Times New Roman" panose="02020603050405020304" charset="0"/>
              </a:rPr>
            </a:br>
            <a:endParaRPr sz="1800">
              <a:latin typeface="Times New Roman" panose="02020603050405020304" charset="0"/>
              <a:cs typeface="Times New Roman" panose="02020603050405020304" charset="0"/>
            </a:endParaRPr>
          </a:p>
        </p:txBody>
      </p:sp>
      <p:pic>
        <p:nvPicPr>
          <p:cNvPr id="5" name="Picture 4" descr="image.png"/>
          <p:cNvPicPr>
            <a:picLocks noChangeAspect="1"/>
          </p:cNvPicPr>
          <p:nvPr/>
        </p:nvPicPr>
        <p:blipFill>
          <a:blip r:embed="rId1"/>
          <a:stretch>
            <a:fillRect/>
          </a:stretch>
        </p:blipFill>
        <p:spPr>
          <a:xfrm>
            <a:off x="2085975" y="3726815"/>
            <a:ext cx="4358640" cy="26155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45720"/>
            <a:ext cx="8229600" cy="880110"/>
          </a:xfrm>
        </p:spPr>
        <p:txBody>
          <a:bodyPr/>
          <a:lstStyle/>
          <a:p>
            <a:r>
              <a:rPr sz="2000" b="1">
                <a:latin typeface="Times New Roman" panose="02020603050405020304" charset="0"/>
                <a:cs typeface="Times New Roman" panose="02020603050405020304" charset="0"/>
              </a:rPr>
              <a:t>Task 5: Popular Payment by City</a:t>
            </a:r>
            <a:endParaRPr sz="2000" b="1">
              <a:latin typeface="Times New Roman" panose="02020603050405020304" charset="0"/>
              <a:cs typeface="Times New Roman" panose="02020603050405020304" charset="0"/>
            </a:endParaRPr>
          </a:p>
        </p:txBody>
      </p:sp>
      <p:sp>
        <p:nvSpPr>
          <p:cNvPr id="3" name="TextBox 2"/>
          <p:cNvSpPr txBox="1"/>
          <p:nvPr/>
        </p:nvSpPr>
        <p:spPr>
          <a:xfrm>
            <a:off x="274320" y="1097280"/>
            <a:ext cx="4114800" cy="1828800"/>
          </a:xfrm>
          <a:prstGeom prst="rect">
            <a:avLst/>
          </a:prstGeom>
          <a:noFill/>
        </p:spPr>
        <p:txBody>
          <a:bodyPr wrap="none">
            <a:spAutoFit/>
          </a:bodyPr>
          <a:lstStyle/>
          <a:p/>
          <a:p>
            <a:pPr>
              <a:defRPr sz="1200"/>
            </a:pPr>
            <a:r>
              <a:t>SQL Query:</a:t>
            </a:r>
            <a:br/>
            <a:br/>
            <a:r>
              <a:t>SELECT City, Payment, COUNT(*) AS Count</a:t>
            </a:r>
            <a:br/>
            <a:r>
              <a:t>FROM sales</a:t>
            </a:r>
            <a:br/>
            <a:r>
              <a:t>GROUP BY City, Payment</a:t>
            </a:r>
            <a:br/>
            <a:r>
              <a:t>HAVING COUNT(*) = (</a:t>
            </a:r>
            <a:br/>
            <a:r>
              <a:t>    SELECT MAX(cnt)</a:t>
            </a:r>
            <a:br/>
            <a:r>
              <a:t>    FROM (</a:t>
            </a:r>
            <a:br/>
            <a:r>
              <a:t>        SELECT City, Payment, COUNT(*) AS cnt</a:t>
            </a:r>
            <a:br/>
            <a:r>
              <a:t>        FROM sales</a:t>
            </a:r>
            <a:br/>
            <a:r>
              <a:t>        GROUP BY City, Payment</a:t>
            </a:r>
            <a:br/>
            <a:r>
              <a:t>    ) t WHERE t.City = sales.City</a:t>
            </a:r>
            <a:br/>
            <a:r>
              <a:t>);</a:t>
            </a:r>
            <a:br/>
          </a:p>
        </p:txBody>
      </p:sp>
      <p:pic>
        <p:nvPicPr>
          <p:cNvPr id="4" name="Picture 3" descr="image.png"/>
          <p:cNvPicPr>
            <a:picLocks noChangeAspect="1"/>
          </p:cNvPicPr>
          <p:nvPr/>
        </p:nvPicPr>
        <p:blipFill>
          <a:blip r:embed="rId1"/>
          <a:stretch>
            <a:fillRect/>
          </a:stretch>
        </p:blipFill>
        <p:spPr>
          <a:xfrm>
            <a:off x="274320" y="5212080"/>
            <a:ext cx="4114800" cy="1645920"/>
          </a:xfrm>
          <a:prstGeom prst="rect">
            <a:avLst/>
          </a:prstGeom>
        </p:spPr>
      </p:pic>
      <p:pic>
        <p:nvPicPr>
          <p:cNvPr id="5" name="Picture 4" descr="image.png"/>
          <p:cNvPicPr>
            <a:picLocks noChangeAspect="1"/>
          </p:cNvPicPr>
          <p:nvPr/>
        </p:nvPicPr>
        <p:blipFill>
          <a:blip r:embed="rId2"/>
          <a:stretch>
            <a:fillRect/>
          </a:stretch>
        </p:blipFill>
        <p:spPr>
          <a:xfrm>
            <a:off x="4685665" y="2194560"/>
            <a:ext cx="4114800" cy="2468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0"/>
            <a:ext cx="8229600" cy="812165"/>
          </a:xfrm>
        </p:spPr>
        <p:txBody>
          <a:bodyPr>
            <a:normAutofit/>
          </a:bodyPr>
          <a:lstStyle/>
          <a:p>
            <a:r>
              <a:rPr sz="2220" b="1">
                <a:latin typeface="Times New Roman" panose="02020603050405020304" charset="0"/>
                <a:cs typeface="Times New Roman" panose="02020603050405020304" charset="0"/>
              </a:rPr>
              <a:t>Task 6: Monthly Sales Distribution by Gender</a:t>
            </a:r>
            <a:endParaRPr sz="2220" b="1">
              <a:latin typeface="Times New Roman" panose="02020603050405020304" charset="0"/>
              <a:cs typeface="Times New Roman" panose="02020603050405020304" charset="0"/>
            </a:endParaRPr>
          </a:p>
        </p:txBody>
      </p:sp>
      <p:sp>
        <p:nvSpPr>
          <p:cNvPr id="3" name="TextBox 2"/>
          <p:cNvSpPr txBox="1"/>
          <p:nvPr/>
        </p:nvSpPr>
        <p:spPr>
          <a:xfrm>
            <a:off x="457200" y="1122045"/>
            <a:ext cx="8083550" cy="2306955"/>
          </a:xfrm>
          <a:prstGeom prst="rect">
            <a:avLst/>
          </a:prstGeom>
          <a:noFill/>
        </p:spPr>
        <p:txBody>
          <a:bodyPr wrap="none">
            <a:spAutoFit/>
          </a:bodyPr>
          <a:lstStyle/>
          <a:p>
            <a:endParaRPr>
              <a:latin typeface="Times New Roman" panose="02020603050405020304" charset="0"/>
              <a:cs typeface="Times New Roman" panose="02020603050405020304" charset="0"/>
            </a:endParaRPr>
          </a:p>
          <a:p>
            <a:pPr>
              <a:defRPr sz="1200"/>
            </a:pPr>
            <a:r>
              <a:rPr sz="1800">
                <a:latin typeface="Times New Roman" panose="02020603050405020304" charset="0"/>
                <a:cs typeface="Times New Roman" panose="02020603050405020304" charset="0"/>
              </a:rPr>
              <a:t>SQL Query:</a:t>
            </a:r>
            <a:br>
              <a:rPr sz="1800">
                <a:latin typeface="Times New Roman" panose="02020603050405020304" charset="0"/>
                <a:cs typeface="Times New Roman" panose="02020603050405020304" charset="0"/>
              </a:rPr>
            </a:b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SELECT DATE_FORMAT(Date,'%Y-%m') AS Month, Gender, SUM(Total) AS Sales</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FROM sales</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GROUP BY Month, Gender</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ORDER BY Month;</a:t>
            </a:r>
            <a:br>
              <a:rPr sz="1800"/>
            </a:br>
            <a:endParaRPr sz="1800"/>
          </a:p>
        </p:txBody>
      </p:sp>
      <p:pic>
        <p:nvPicPr>
          <p:cNvPr id="4" name="Picture 3" descr="image.png"/>
          <p:cNvPicPr>
            <a:picLocks noChangeAspect="1"/>
          </p:cNvPicPr>
          <p:nvPr/>
        </p:nvPicPr>
        <p:blipFill>
          <a:blip r:embed="rId1"/>
          <a:stretch>
            <a:fillRect/>
          </a:stretch>
        </p:blipFill>
        <p:spPr>
          <a:xfrm>
            <a:off x="0" y="5212080"/>
            <a:ext cx="8349615" cy="1645920"/>
          </a:xfrm>
          <a:prstGeom prst="rect">
            <a:avLst/>
          </a:prstGeom>
        </p:spPr>
      </p:pic>
      <p:pic>
        <p:nvPicPr>
          <p:cNvPr id="5" name="Picture 4" descr="image.png"/>
          <p:cNvPicPr>
            <a:picLocks noChangeAspect="1"/>
          </p:cNvPicPr>
          <p:nvPr/>
        </p:nvPicPr>
        <p:blipFill>
          <a:blip r:embed="rId2"/>
          <a:stretch>
            <a:fillRect/>
          </a:stretch>
        </p:blipFill>
        <p:spPr>
          <a:xfrm>
            <a:off x="4183380" y="2411730"/>
            <a:ext cx="4114800" cy="2468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37210" y="149225"/>
            <a:ext cx="8229600" cy="675005"/>
          </a:xfrm>
        </p:spPr>
        <p:txBody>
          <a:bodyPr>
            <a:normAutofit/>
          </a:bodyPr>
          <a:lstStyle/>
          <a:p>
            <a:r>
              <a:rPr sz="2000" b="1">
                <a:latin typeface="Times New Roman" panose="02020603050405020304" charset="0"/>
                <a:cs typeface="Times New Roman" panose="02020603050405020304" charset="0"/>
              </a:rPr>
              <a:t>Task 7: Best Product Line by Customer Type</a:t>
            </a:r>
            <a:endParaRPr sz="2000" b="1">
              <a:latin typeface="Times New Roman" panose="02020603050405020304" charset="0"/>
              <a:cs typeface="Times New Roman" panose="02020603050405020304" charset="0"/>
            </a:endParaRPr>
          </a:p>
        </p:txBody>
      </p:sp>
      <p:sp>
        <p:nvSpPr>
          <p:cNvPr id="3" name="TextBox 2"/>
          <p:cNvSpPr txBox="1"/>
          <p:nvPr/>
        </p:nvSpPr>
        <p:spPr>
          <a:xfrm>
            <a:off x="274320" y="1097280"/>
            <a:ext cx="4577715" cy="2953385"/>
          </a:xfrm>
          <a:prstGeom prst="rect">
            <a:avLst/>
          </a:prstGeom>
          <a:noFill/>
        </p:spPr>
        <p:txBody>
          <a:bodyPr wrap="none">
            <a:spAutoFit/>
          </a:bodyPr>
          <a:lstStyle/>
          <a:p>
            <a:endParaRPr>
              <a:latin typeface="Times New Roman" panose="02020603050405020304" charset="0"/>
              <a:cs typeface="Times New Roman" panose="02020603050405020304" charset="0"/>
            </a:endParaRPr>
          </a:p>
          <a:p>
            <a:pPr>
              <a:defRPr sz="1200"/>
            </a:pPr>
            <a:r>
              <a:rPr>
                <a:latin typeface="Times New Roman" panose="02020603050405020304" charset="0"/>
                <a:cs typeface="Times New Roman" panose="02020603050405020304" charset="0"/>
              </a:rPr>
              <a:t>SQL Query:</a:t>
            </a:r>
            <a:br>
              <a:rPr>
                <a:latin typeface="Times New Roman" panose="02020603050405020304" charset="0"/>
                <a:cs typeface="Times New Roman" panose="02020603050405020304" charset="0"/>
              </a:rPr>
            </a:br>
            <a:br>
              <a:rPr>
                <a:latin typeface="Times New Roman" panose="02020603050405020304" charset="0"/>
                <a:cs typeface="Times New Roman" panose="02020603050405020304" charset="0"/>
              </a:rPr>
            </a:br>
            <a:r>
              <a:rPr>
                <a:latin typeface="Times New Roman" panose="02020603050405020304" charset="0"/>
                <a:cs typeface="Times New Roman" panose="02020603050405020304" charset="0"/>
              </a:rPr>
              <a:t>SELECT Customer_type, Product_line, SUM(Total) AS Sales</a:t>
            </a:r>
            <a:br>
              <a:rPr>
                <a:latin typeface="Times New Roman" panose="02020603050405020304" charset="0"/>
                <a:cs typeface="Times New Roman" panose="02020603050405020304" charset="0"/>
              </a:rPr>
            </a:br>
            <a:r>
              <a:rPr>
                <a:latin typeface="Times New Roman" panose="02020603050405020304" charset="0"/>
                <a:cs typeface="Times New Roman" panose="02020603050405020304" charset="0"/>
              </a:rPr>
              <a:t>FROM sales</a:t>
            </a:r>
            <a:br>
              <a:rPr>
                <a:latin typeface="Times New Roman" panose="02020603050405020304" charset="0"/>
                <a:cs typeface="Times New Roman" panose="02020603050405020304" charset="0"/>
              </a:rPr>
            </a:br>
            <a:r>
              <a:rPr>
                <a:latin typeface="Times New Roman" panose="02020603050405020304" charset="0"/>
                <a:cs typeface="Times New Roman" panose="02020603050405020304" charset="0"/>
              </a:rPr>
              <a:t>GROUP BY Customer_type, Product_line</a:t>
            </a:r>
            <a:br>
              <a:rPr>
                <a:latin typeface="Times New Roman" panose="02020603050405020304" charset="0"/>
                <a:cs typeface="Times New Roman" panose="02020603050405020304" charset="0"/>
              </a:rPr>
            </a:br>
            <a:r>
              <a:rPr>
                <a:latin typeface="Times New Roman" panose="02020603050405020304" charset="0"/>
                <a:cs typeface="Times New Roman" panose="02020603050405020304" charset="0"/>
              </a:rPr>
              <a:t>HAVING SUM(Total) = (</a:t>
            </a:r>
            <a:br>
              <a:rPr>
                <a:latin typeface="Times New Roman" panose="02020603050405020304" charset="0"/>
                <a:cs typeface="Times New Roman" panose="02020603050405020304" charset="0"/>
              </a:rPr>
            </a:br>
            <a:r>
              <a:rPr>
                <a:latin typeface="Times New Roman" panose="02020603050405020304" charset="0"/>
                <a:cs typeface="Times New Roman" panose="02020603050405020304" charset="0"/>
              </a:rPr>
              <a:t>    SELECT MAX(sales_sum)</a:t>
            </a:r>
            <a:br>
              <a:rPr>
                <a:latin typeface="Times New Roman" panose="02020603050405020304" charset="0"/>
                <a:cs typeface="Times New Roman" panose="02020603050405020304" charset="0"/>
              </a:rPr>
            </a:br>
            <a:r>
              <a:rPr>
                <a:latin typeface="Times New Roman" panose="02020603050405020304" charset="0"/>
                <a:cs typeface="Times New Roman" panose="02020603050405020304" charset="0"/>
              </a:rPr>
              <a:t>    FROM (</a:t>
            </a:r>
            <a:br>
              <a:rPr>
                <a:latin typeface="Times New Roman" panose="02020603050405020304" charset="0"/>
                <a:cs typeface="Times New Roman" panose="02020603050405020304" charset="0"/>
              </a:rPr>
            </a:br>
            <a:r>
              <a:rPr>
                <a:latin typeface="Times New Roman" panose="02020603050405020304" charset="0"/>
                <a:cs typeface="Times New Roman" panose="02020603050405020304" charset="0"/>
              </a:rPr>
              <a:t>        SELECT Customer_type, Product_line, SUM(Total) AS sales_sum</a:t>
            </a:r>
            <a:br>
              <a:rPr>
                <a:latin typeface="Times New Roman" panose="02020603050405020304" charset="0"/>
                <a:cs typeface="Times New Roman" panose="02020603050405020304" charset="0"/>
              </a:rPr>
            </a:br>
            <a:r>
              <a:rPr>
                <a:latin typeface="Times New Roman" panose="02020603050405020304" charset="0"/>
                <a:cs typeface="Times New Roman" panose="02020603050405020304" charset="0"/>
              </a:rPr>
              <a:t>        FROM sales</a:t>
            </a:r>
            <a:br>
              <a:rPr>
                <a:latin typeface="Times New Roman" panose="02020603050405020304" charset="0"/>
                <a:cs typeface="Times New Roman" panose="02020603050405020304" charset="0"/>
              </a:rPr>
            </a:br>
            <a:r>
              <a:rPr>
                <a:latin typeface="Times New Roman" panose="02020603050405020304" charset="0"/>
                <a:cs typeface="Times New Roman" panose="02020603050405020304" charset="0"/>
              </a:rPr>
              <a:t>        GROUP BY Customer_type, Product_line</a:t>
            </a:r>
            <a:br>
              <a:rPr>
                <a:latin typeface="Times New Roman" panose="02020603050405020304" charset="0"/>
                <a:cs typeface="Times New Roman" panose="02020603050405020304" charset="0"/>
              </a:rPr>
            </a:br>
            <a:r>
              <a:rPr>
                <a:latin typeface="Times New Roman" panose="02020603050405020304" charset="0"/>
                <a:cs typeface="Times New Roman" panose="02020603050405020304" charset="0"/>
              </a:rPr>
              <a:t>    ) t WHERE t.Customer_type = sales.Customer_type</a:t>
            </a:r>
            <a:br>
              <a:rPr>
                <a:latin typeface="Times New Roman" panose="02020603050405020304" charset="0"/>
                <a:cs typeface="Times New Roman" panose="02020603050405020304" charset="0"/>
              </a:rPr>
            </a:br>
            <a:r>
              <a:rPr>
                <a:latin typeface="Times New Roman" panose="02020603050405020304" charset="0"/>
                <a:cs typeface="Times New Roman" panose="02020603050405020304" charset="0"/>
              </a:rPr>
              <a:t>);</a:t>
            </a:r>
            <a:br>
              <a:rPr>
                <a:latin typeface="Times New Roman" panose="02020603050405020304" charset="0"/>
                <a:cs typeface="Times New Roman" panose="02020603050405020304" charset="0"/>
              </a:rPr>
            </a:br>
            <a:endParaRPr>
              <a:latin typeface="Times New Roman" panose="02020603050405020304" charset="0"/>
              <a:cs typeface="Times New Roman" panose="02020603050405020304" charset="0"/>
            </a:endParaRPr>
          </a:p>
        </p:txBody>
      </p:sp>
      <p:pic>
        <p:nvPicPr>
          <p:cNvPr id="4" name="Picture 3" descr="image.png"/>
          <p:cNvPicPr>
            <a:picLocks noChangeAspect="1"/>
          </p:cNvPicPr>
          <p:nvPr/>
        </p:nvPicPr>
        <p:blipFill>
          <a:blip r:embed="rId1"/>
          <a:stretch>
            <a:fillRect/>
          </a:stretch>
        </p:blipFill>
        <p:spPr>
          <a:xfrm>
            <a:off x="657225" y="5212080"/>
            <a:ext cx="7120255" cy="1645920"/>
          </a:xfrm>
          <a:prstGeom prst="rect">
            <a:avLst/>
          </a:prstGeom>
        </p:spPr>
      </p:pic>
      <p:pic>
        <p:nvPicPr>
          <p:cNvPr id="5" name="Picture 4" descr="image.png"/>
          <p:cNvPicPr>
            <a:picLocks noChangeAspect="1"/>
          </p:cNvPicPr>
          <p:nvPr/>
        </p:nvPicPr>
        <p:blipFill>
          <a:blip r:embed="rId2"/>
          <a:stretch>
            <a:fillRect/>
          </a:stretch>
        </p:blipFill>
        <p:spPr>
          <a:xfrm>
            <a:off x="4852035" y="2640965"/>
            <a:ext cx="4114800" cy="24688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Task 8: Identifying Repeat Customers</a:t>
            </a:r>
          </a:p>
        </p:txBody>
      </p:sp>
      <p:sp>
        <p:nvSpPr>
          <p:cNvPr id="3" name="TextBox 2"/>
          <p:cNvSpPr txBox="1"/>
          <p:nvPr/>
        </p:nvSpPr>
        <p:spPr>
          <a:xfrm>
            <a:off x="274320" y="1097280"/>
            <a:ext cx="4114800" cy="1828800"/>
          </a:xfrm>
          <a:prstGeom prst="rect">
            <a:avLst/>
          </a:prstGeom>
          <a:noFill/>
        </p:spPr>
        <p:txBody>
          <a:bodyPr wrap="none">
            <a:spAutoFit/>
          </a:bodyPr>
          <a:lstStyle/>
          <a:p/>
          <a:p>
            <a:pPr>
              <a:defRPr sz="1200"/>
            </a:pPr>
            <a:r>
              <a:t>SQL Query:</a:t>
            </a:r>
            <a:br/>
            <a:br/>
            <a:r>
              <a:t>SELECT DISTINCT s1.Customer_ID</a:t>
            </a:r>
            <a:br/>
            <a:r>
              <a:t>FROM sales s1</a:t>
            </a:r>
            <a:br/>
            <a:r>
              <a:t>JOIN sales s2 ON s1.Customer_ID = s2.Customer_ID</a:t>
            </a:r>
            <a:br/>
            <a:r>
              <a:t>WHERE s1.Date &lt;&gt; s2.Date</a:t>
            </a:r>
            <a:br/>
            <a:r>
              <a:t>  AND ABS(DATEDIFF(s1.Date, s2.Date)) &lt;= 30;</a:t>
            </a:r>
            <a:br/>
          </a:p>
        </p:txBody>
      </p:sp>
      <p:pic>
        <p:nvPicPr>
          <p:cNvPr id="4" name="Picture 3" descr="image.png"/>
          <p:cNvPicPr>
            <a:picLocks noChangeAspect="1"/>
          </p:cNvPicPr>
          <p:nvPr/>
        </p:nvPicPr>
        <p:blipFill>
          <a:blip r:embed="rId1"/>
          <a:stretch>
            <a:fillRect/>
          </a:stretch>
        </p:blipFill>
        <p:spPr>
          <a:xfrm>
            <a:off x="274320" y="4949825"/>
            <a:ext cx="4114800" cy="1645920"/>
          </a:xfrm>
          <a:prstGeom prst="rect">
            <a:avLst/>
          </a:prstGeom>
        </p:spPr>
      </p:pic>
      <p:pic>
        <p:nvPicPr>
          <p:cNvPr id="5" name="Picture 4" descr="image.png"/>
          <p:cNvPicPr>
            <a:picLocks noChangeAspect="1"/>
          </p:cNvPicPr>
          <p:nvPr/>
        </p:nvPicPr>
        <p:blipFill>
          <a:blip r:embed="rId2"/>
          <a:stretch>
            <a:fillRect/>
          </a:stretch>
        </p:blipFill>
        <p:spPr>
          <a:xfrm>
            <a:off x="4572000" y="3474720"/>
            <a:ext cx="4114800" cy="24688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317"/>
            <a:ext cx="8229600" cy="1143000"/>
          </a:xfrm>
        </p:spPr>
        <p:txBody>
          <a:bodyPr/>
          <a:lstStyle/>
          <a:p>
            <a:r>
              <a:rPr sz="2000" b="1">
                <a:latin typeface="Times New Roman" panose="02020603050405020304" charset="0"/>
                <a:cs typeface="Times New Roman" panose="02020603050405020304" charset="0"/>
              </a:rPr>
              <a:t>Task 9: Top 5 Customers</a:t>
            </a:r>
            <a:endParaRPr sz="2000" b="1">
              <a:latin typeface="Times New Roman" panose="02020603050405020304" charset="0"/>
              <a:cs typeface="Times New Roman" panose="02020603050405020304" charset="0"/>
            </a:endParaRPr>
          </a:p>
        </p:txBody>
      </p:sp>
      <p:sp>
        <p:nvSpPr>
          <p:cNvPr id="3" name="TextBox 2"/>
          <p:cNvSpPr txBox="1"/>
          <p:nvPr/>
        </p:nvSpPr>
        <p:spPr>
          <a:xfrm>
            <a:off x="274320" y="1097280"/>
            <a:ext cx="5036820" cy="2491740"/>
          </a:xfrm>
          <a:prstGeom prst="rect">
            <a:avLst/>
          </a:prstGeom>
          <a:noFill/>
        </p:spPr>
        <p:txBody>
          <a:bodyPr wrap="none">
            <a:spAutoFit/>
          </a:bodyPr>
          <a:lstStyle/>
          <a:p/>
          <a:p>
            <a:pPr>
              <a:defRPr sz="1200"/>
            </a:pPr>
            <a:r>
              <a:rPr sz="1800">
                <a:latin typeface="Times New Roman" panose="02020603050405020304" charset="0"/>
                <a:cs typeface="Times New Roman" panose="02020603050405020304" charset="0"/>
              </a:rPr>
              <a:t>SQL Query:</a:t>
            </a:r>
            <a:br>
              <a:rPr sz="1800">
                <a:latin typeface="Times New Roman" panose="02020603050405020304" charset="0"/>
                <a:cs typeface="Times New Roman" panose="02020603050405020304" charset="0"/>
              </a:rPr>
            </a:b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SELECT Customer_ID, SUM(Total) AS Total_Spent</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FROM sales</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GROUP BY Customer_ID</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ORDER BY Total_Spent DESC</a:t>
            </a:r>
            <a:br>
              <a:rPr sz="1800">
                <a:latin typeface="Times New Roman" panose="02020603050405020304" charset="0"/>
                <a:cs typeface="Times New Roman" panose="02020603050405020304" charset="0"/>
              </a:rPr>
            </a:br>
            <a:r>
              <a:rPr sz="1800">
                <a:latin typeface="Times New Roman" panose="02020603050405020304" charset="0"/>
                <a:cs typeface="Times New Roman" panose="02020603050405020304" charset="0"/>
              </a:rPr>
              <a:t>LIMIT 5;</a:t>
            </a:r>
            <a:br>
              <a:rPr sz="1800">
                <a:latin typeface="Times New Roman" panose="02020603050405020304" charset="0"/>
                <a:cs typeface="Times New Roman" panose="02020603050405020304" charset="0"/>
              </a:rPr>
            </a:br>
            <a:endParaRPr sz="1800">
              <a:latin typeface="Times New Roman" panose="02020603050405020304" charset="0"/>
              <a:cs typeface="Times New Roman" panose="02020603050405020304" charset="0"/>
            </a:endParaRPr>
          </a:p>
        </p:txBody>
      </p:sp>
      <p:pic>
        <p:nvPicPr>
          <p:cNvPr id="4" name="Picture 3" descr="image.png"/>
          <p:cNvPicPr>
            <a:picLocks noChangeAspect="1"/>
          </p:cNvPicPr>
          <p:nvPr/>
        </p:nvPicPr>
        <p:blipFill>
          <a:blip r:embed="rId1"/>
          <a:stretch>
            <a:fillRect/>
          </a:stretch>
        </p:blipFill>
        <p:spPr>
          <a:xfrm>
            <a:off x="0" y="5212080"/>
            <a:ext cx="4114800" cy="1645920"/>
          </a:xfrm>
          <a:prstGeom prst="rect">
            <a:avLst/>
          </a:prstGeom>
        </p:spPr>
      </p:pic>
      <p:pic>
        <p:nvPicPr>
          <p:cNvPr id="5" name="Picture 4" descr="image.png"/>
          <p:cNvPicPr>
            <a:picLocks noChangeAspect="1"/>
          </p:cNvPicPr>
          <p:nvPr/>
        </p:nvPicPr>
        <p:blipFill>
          <a:blip r:embed="rId2"/>
          <a:stretch>
            <a:fillRect/>
          </a:stretch>
        </p:blipFill>
        <p:spPr>
          <a:xfrm>
            <a:off x="4572000" y="3216910"/>
            <a:ext cx="4114800" cy="24688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317"/>
            <a:ext cx="8229600" cy="1143000"/>
          </a:xfrm>
        </p:spPr>
        <p:txBody>
          <a:bodyPr/>
          <a:lstStyle/>
          <a:p>
            <a:r>
              <a:rPr sz="2000" b="1">
                <a:latin typeface="Times New Roman" panose="02020603050405020304" charset="0"/>
                <a:cs typeface="Times New Roman" panose="02020603050405020304" charset="0"/>
              </a:rPr>
              <a:t>Task 10: Sales by Day of Week</a:t>
            </a:r>
            <a:endParaRPr sz="2000" b="1">
              <a:latin typeface="Times New Roman" panose="02020603050405020304" charset="0"/>
              <a:cs typeface="Times New Roman" panose="02020603050405020304" charset="0"/>
            </a:endParaRPr>
          </a:p>
        </p:txBody>
      </p:sp>
      <p:sp>
        <p:nvSpPr>
          <p:cNvPr id="3" name="TextBox 2"/>
          <p:cNvSpPr txBox="1"/>
          <p:nvPr/>
        </p:nvSpPr>
        <p:spPr>
          <a:xfrm>
            <a:off x="473710" y="459105"/>
            <a:ext cx="4098290" cy="3288665"/>
          </a:xfrm>
          <a:prstGeom prst="rect">
            <a:avLst/>
          </a:prstGeom>
          <a:noFill/>
        </p:spPr>
        <p:txBody>
          <a:bodyPr wrap="none">
            <a:noAutofit/>
          </a:bodyPr>
          <a:lstStyle/>
          <a:p/>
          <a:p>
            <a:pPr>
              <a:defRPr sz="1200"/>
            </a:pPr>
            <a:r>
              <a:rPr sz="2000">
                <a:latin typeface="Times New Roman" panose="02020603050405020304" charset="0"/>
                <a:cs typeface="Times New Roman" panose="02020603050405020304" charset="0"/>
              </a:rPr>
              <a:t>SQL Query:</a:t>
            </a:r>
            <a:br>
              <a:rPr sz="2000">
                <a:latin typeface="Times New Roman" panose="02020603050405020304" charset="0"/>
                <a:cs typeface="Times New Roman" panose="02020603050405020304" charset="0"/>
              </a:rPr>
            </a:br>
            <a:br>
              <a:rPr sz="2000">
                <a:latin typeface="Times New Roman" panose="02020603050405020304" charset="0"/>
                <a:cs typeface="Times New Roman" panose="02020603050405020304" charset="0"/>
              </a:rPr>
            </a:br>
            <a:r>
              <a:rPr sz="2000">
                <a:latin typeface="Times New Roman" panose="02020603050405020304" charset="0"/>
                <a:cs typeface="Times New Roman" panose="02020603050405020304" charset="0"/>
              </a:rPr>
              <a:t>SELECT DAYNAME(Date) AS DayOfWeek, SUM(Total) AS Sales</a:t>
            </a:r>
            <a:br>
              <a:rPr sz="2000">
                <a:latin typeface="Times New Roman" panose="02020603050405020304" charset="0"/>
                <a:cs typeface="Times New Roman" panose="02020603050405020304" charset="0"/>
              </a:rPr>
            </a:br>
            <a:r>
              <a:rPr sz="2000">
                <a:latin typeface="Times New Roman" panose="02020603050405020304" charset="0"/>
                <a:cs typeface="Times New Roman" panose="02020603050405020304" charset="0"/>
              </a:rPr>
              <a:t>FROM sales</a:t>
            </a:r>
            <a:br>
              <a:rPr sz="2000">
                <a:latin typeface="Times New Roman" panose="02020603050405020304" charset="0"/>
                <a:cs typeface="Times New Roman" panose="02020603050405020304" charset="0"/>
              </a:rPr>
            </a:br>
            <a:r>
              <a:rPr sz="2000">
                <a:latin typeface="Times New Roman" panose="02020603050405020304" charset="0"/>
                <a:cs typeface="Times New Roman" panose="02020603050405020304" charset="0"/>
              </a:rPr>
              <a:t>GROUP BY DayOfWeek</a:t>
            </a:r>
            <a:br>
              <a:rPr sz="2000">
                <a:latin typeface="Times New Roman" panose="02020603050405020304" charset="0"/>
                <a:cs typeface="Times New Roman" panose="02020603050405020304" charset="0"/>
              </a:rPr>
            </a:br>
            <a:r>
              <a:rPr sz="2000">
                <a:latin typeface="Times New Roman" panose="02020603050405020304" charset="0"/>
                <a:cs typeface="Times New Roman" panose="02020603050405020304" charset="0"/>
              </a:rPr>
              <a:t>ORDER BY Sales DESC;</a:t>
            </a:r>
            <a:br>
              <a:rPr sz="2000">
                <a:latin typeface="Times New Roman" panose="02020603050405020304" charset="0"/>
                <a:cs typeface="Times New Roman" panose="02020603050405020304" charset="0"/>
              </a:rPr>
            </a:br>
            <a:endParaRPr sz="2000">
              <a:latin typeface="Times New Roman" panose="02020603050405020304" charset="0"/>
              <a:cs typeface="Times New Roman" panose="02020603050405020304" charset="0"/>
            </a:endParaRPr>
          </a:p>
        </p:txBody>
      </p:sp>
      <p:pic>
        <p:nvPicPr>
          <p:cNvPr id="4" name="Picture 3" descr="image.png"/>
          <p:cNvPicPr>
            <a:picLocks noChangeAspect="1"/>
          </p:cNvPicPr>
          <p:nvPr/>
        </p:nvPicPr>
        <p:blipFill>
          <a:blip r:embed="rId1"/>
          <a:stretch>
            <a:fillRect/>
          </a:stretch>
        </p:blipFill>
        <p:spPr>
          <a:xfrm>
            <a:off x="274320" y="3249930"/>
            <a:ext cx="4114800" cy="1645920"/>
          </a:xfrm>
          <a:prstGeom prst="rect">
            <a:avLst/>
          </a:prstGeom>
        </p:spPr>
      </p:pic>
      <p:pic>
        <p:nvPicPr>
          <p:cNvPr id="5" name="Picture 4" descr="image.png"/>
          <p:cNvPicPr>
            <a:picLocks noChangeAspect="1"/>
          </p:cNvPicPr>
          <p:nvPr/>
        </p:nvPicPr>
        <p:blipFill>
          <a:blip r:embed="rId2"/>
          <a:stretch>
            <a:fillRect/>
          </a:stretch>
        </p:blipFill>
        <p:spPr>
          <a:xfrm>
            <a:off x="4389120" y="2926080"/>
            <a:ext cx="4114800" cy="24688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29565" y="-317"/>
            <a:ext cx="8229600" cy="1143000"/>
          </a:xfrm>
        </p:spPr>
        <p:txBody>
          <a:bodyPr/>
          <a:p>
            <a:r>
              <a:rPr lang="en-US" altLang="en-GB"/>
              <a:t>Conclusion</a:t>
            </a:r>
            <a:endParaRPr lang="en-US" altLang="en-GB"/>
          </a:p>
        </p:txBody>
      </p:sp>
      <p:sp>
        <p:nvSpPr>
          <p:cNvPr id="3" name="Text Box 2"/>
          <p:cNvSpPr txBox="1"/>
          <p:nvPr/>
        </p:nvSpPr>
        <p:spPr>
          <a:xfrm>
            <a:off x="412750" y="1047115"/>
            <a:ext cx="8146415" cy="5810885"/>
          </a:xfrm>
          <a:prstGeom prst="rect">
            <a:avLst/>
          </a:prstGeom>
          <a:noFill/>
        </p:spPr>
        <p:txBody>
          <a:bodyPr wrap="square" rtlCol="0">
            <a:noAutofit/>
          </a:bodyPr>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Branch C demonstrated the highest sales growth rate.</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Electronic Accessories and Fashion emerged as highly profitable product lines.</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Customers were effectively segmented into High, Medium, and Low spenders, enabling targeted marketing strategies.</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Anomalous transactions were identified, supporting fraud detection and operational checks.</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E-wallets and Cash were the most popular payment methods, varying across cities.</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Sales distribution showed that female customers contributed slightly more overall sales.</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Weekend days recorded the highest sales volumes, highlighting opportunities for promotions.</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Repeat customers and top spenders were identified for loyalty and reward programs.</a:t>
            </a:r>
            <a:endParaRPr lang="en-GB" altLang="en-US">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5382895"/>
          </a:xfrm>
        </p:spPr>
        <p:txBody>
          <a:bodyPr/>
          <a:p>
            <a:r>
              <a:rPr lang="en-US" altLang="en-GB" sz="3600">
                <a:ln>
                  <a:solidFill>
                    <a:schemeClr val="tx1"/>
                  </a:solidFill>
                </a:ln>
                <a:solidFill>
                  <a:schemeClr val="accent5">
                    <a:lumMod val="75000"/>
                  </a:schemeClr>
                </a:solidFill>
                <a:latin typeface="Times New Roman" panose="02020603050405020304" charset="0"/>
                <a:cs typeface="Times New Roman" panose="02020603050405020304" charset="0"/>
              </a:rPr>
              <a:t>THANK YOU</a:t>
            </a:r>
            <a:endParaRPr lang="en-US" altLang="en-GB" sz="3600">
              <a:ln>
                <a:solidFill>
                  <a:schemeClr val="tx1"/>
                </a:solidFill>
              </a:ln>
              <a:solidFill>
                <a:schemeClr val="accent5">
                  <a:lumMod val="75000"/>
                </a:schemeClr>
              </a:solidFill>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4031</Words>
  <Application>WPS Presentation</Application>
  <PresentationFormat>On-screen Show (4:3)</PresentationFormat>
  <Paragraphs>83</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Arial</vt:lpstr>
      <vt:lpstr>SimSun</vt:lpstr>
      <vt:lpstr>Wingdings</vt:lpstr>
      <vt:lpstr>Arial</vt:lpstr>
      <vt:lpstr>Times New Roman</vt:lpstr>
      <vt:lpstr>Calibri</vt:lpstr>
      <vt:lpstr>Microsoft YaHei</vt:lpstr>
      <vt:lpstr>Arial Unicode MS</vt:lpstr>
      <vt:lpstr>Office Theme</vt:lpstr>
      <vt:lpstr>Sales Performance Analysis of Walmart Stores</vt:lpstr>
      <vt:lpstr>INTRODUCTION</vt:lpstr>
      <vt:lpstr>Task 1: Top Branch by Sales Growth Rate</vt:lpstr>
      <vt:lpstr>Task 2: Most Profitable Product Line per Branch</vt:lpstr>
      <vt:lpstr>Task 3: Customer Segmentation</vt:lpstr>
      <vt:lpstr>Task 4: Sales Anomalies Detection</vt:lpstr>
      <vt:lpstr>Task 5: Popular Payment by City</vt:lpstr>
      <vt:lpstr>Task 6: Monthly Sales Distribution by Gender</vt:lpstr>
      <vt:lpstr>Task 7: Best Product Line by Customer Type</vt:lpstr>
      <vt:lpstr>Task 8: Identifying Repeat Customers</vt:lpstr>
      <vt:lpstr>Task 9: Top 5 Customers</vt:lpstr>
      <vt:lpstr>Task 10: Sales by Day of Week</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Raja Rajendra</cp:lastModifiedBy>
  <cp:revision>3</cp:revision>
  <dcterms:created xsi:type="dcterms:W3CDTF">2013-01-27T09:14:00Z</dcterms:created>
  <dcterms:modified xsi:type="dcterms:W3CDTF">2025-08-20T13:47:45Z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07B0945FDF6A4947A54BDA97D04DEE04_13</vt:lpwstr>
  </property>
  <property fmtid="{D5CDD505-2E9C-101B-9397-08002B2CF9AE}" pid="3" name="KSOProductBuildVer">
    <vt:lpwstr>2057-12.2.0.21936</vt:lpwstr>
  </property>
</Properties>
</file>